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31"/>
    <p:sldId id="273" r:id="rId32"/>
    <p:sldId id="274" r:id="rId33"/>
    <p:sldId id="275" r:id="rId34"/>
    <p:sldId id="276" r:id="rId35"/>
    <p:sldId id="277" r:id="rId36"/>
  </p:sldIdLst>
  <p:notesMasterIdLst>
    <p:notesMasterId r:id="rId18"/>
  </p:notesMasterIdLst>
  <p:sldSz cx="14630400" cy="8229600"/>
  <p:notesSz cx="8229600" cy="14630400"/>
  <p:embeddedFontLst>
    <p:embeddedFont>
      <p:font typeface="Gelasio"/>
      <p:regular r:id="rId23"/>
    </p:embeddedFont>
    <p:embeddedFont>
      <p:font typeface="Gelasio"/>
      <p:regular r:id="rId24"/>
    </p:embeddedFont>
    <p:embeddedFont>
      <p:font typeface="Gelasio"/>
      <p:regular r:id="rId25"/>
    </p:embeddedFont>
    <p:embeddedFont>
      <p:font typeface="Gelasio"/>
      <p:regular r:id="rId26"/>
    </p:embeddedFont>
    <p:embeddedFont>
      <p:font typeface="Lato"/>
      <p:regular r:id="rId27"/>
    </p:embeddedFont>
    <p:embeddedFont>
      <p:font typeface="Lato"/>
      <p:regular r:id="rId28"/>
    </p:embeddedFont>
    <p:embeddedFont>
      <p:font typeface="Lato"/>
      <p:regular r:id="rId29"/>
    </p:embeddedFont>
    <p:embeddedFont>
      <p:font typeface="Lato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6-1.png"/><Relationship Id="rId2" Type="http://schemas.openxmlformats.org/officeDocument/2006/relationships/image" Target="../media/image-1016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image" Target="../media/image-1017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2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6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7.xml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Hybrid Intelligence Defense System (HIDS)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Combating AI Misuse Through Advanced Detection and Human-AI Collaboration. Presented by the AI Research Team.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545" y="589002"/>
            <a:ext cx="7756208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Growing Threat of AI Misuse</a:t>
            </a:r>
            <a:endParaRPr lang="en-US" sz="4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545" y="1802130"/>
            <a:ext cx="6565344" cy="4923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8545" y="6963370"/>
            <a:ext cx="7139226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400217" y="1754743"/>
            <a:ext cx="5499140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 AI capabilities advance, so does the potential for its malicious exploitation. This new era introduces sophisticated threats that traditional cybersecurity measures struggle to counter.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400217" y="3294817"/>
            <a:ext cx="5499140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Automated Cyber Attacks: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AI-powered malware and phishing campaigns are becoming more evasive and difficult to detect.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400217" y="4381262"/>
            <a:ext cx="5499140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Deepfakes &amp; Disinformation: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Generative AI enables the creation of highly convincing fake content, eroding trust and spreading misinformation.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00217" y="5467707"/>
            <a:ext cx="5499140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Autonomous Weapons: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The development of AI-driven autonomous systems poses ethical and security dilemmas on a global scale.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00217" y="6554153"/>
            <a:ext cx="5499140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Bypassing Defenses: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AI's ability to learn and adapt makes it a formidable tool for circumventing existing security protocols.</a:t>
            </a:r>
            <a:endParaRPr lang="en-US" sz="1650" dirty="0"/>
          </a:p>
          <a:p>
            <a:pPr lvl="1">
              <a:defRPr>
                <a:solidFill>
                  <a:srgbClr val="0077B5"/>
                </a:solidFill>
              </a:defRPr>
            </a:pPr>
            <a:r>
              <a:t>Cisco SecureX logs 1.5 trillion security events daily - AI threats are evolving faster than 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045" y="582692"/>
            <a:ext cx="7782520" cy="661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Growing Threat of AI Misuse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1045" y="1667708"/>
            <a:ext cx="13148310" cy="67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rapid advancement of generative AI has created unprecedented threats to digital security and information integrity. Organizations face sophisticated threats, including deepfake fraud and AI-generated malware.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045" y="2583061"/>
            <a:ext cx="529233" cy="5292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1045" y="3376851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Deepfake Attacks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41045" y="3834527"/>
            <a:ext cx="6441877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Deepfake fraud attempts increased by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3,000%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2023, causing significant financial losses in single incidents. Current detection accuracy drops to 65% against real-world deepfakes.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478" y="2583061"/>
            <a:ext cx="529233" cy="5292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47478" y="3376851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 Cyberattacks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447478" y="3834527"/>
            <a:ext cx="6441877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Anticipated to rise by </a:t>
            </a:r>
            <a:pPr algn="l" indent="0" marL="0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50%</a:t>
            </a:r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 2024, these include AI-generated malware and sophisticated social engineering attacks that bypass traditional cybersecurity measures.</a:t>
            </a:r>
            <a:endParaRPr lang="en-US" sz="16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45" y="5379601"/>
            <a:ext cx="529233" cy="5292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1045" y="6173391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Poisoning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741045" y="6631067"/>
            <a:ext cx="6441877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systems are vulnerable to data poisoning, where as little as 1-3% of corrupted training data can compromise system integrity and lead to misinformation.</a:t>
            </a:r>
            <a:endParaRPr lang="en-US" sz="16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7478" y="5379601"/>
            <a:ext cx="529233" cy="5292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47478" y="6173391"/>
            <a:ext cx="264664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Erosion of Trust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447478" y="6631067"/>
            <a:ext cx="6441877" cy="101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proliferation of AI-generated malicious content erodes trust in digital media and communications, impacting public perception and organizational credibility.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942618"/>
            <a:ext cx="7060406" cy="52953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415218" y="891540"/>
            <a:ext cx="54288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1"/>
          <p:cNvSpPr/>
          <p:nvPr/>
        </p:nvSpPr>
        <p:spPr>
          <a:xfrm>
            <a:off x="793790" y="683323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endParaRPr lang="en-US" sz="4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1890"/>
            <a:ext cx="64986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Why HIDS is Crucial Now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9429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urgency for advanced AI defense systems is underscored by rapid market growth, increasing AI adoption, and mounting security incidents.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08860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47.6%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793790" y="4120396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Deepfake Detection Market CAGR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6514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deepfake detection market is projected to reach </a:t>
            </a:r>
            <a:pPr algn="ctr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$5.6B</a:t>
            </a:r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by 2034, reflecting the critical need for effective countermeasures.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35893" y="308860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73%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5473422" y="4120396"/>
            <a:ext cx="3683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Enterprises with AI Incidents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235893" y="461081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Nearly three-quarters of enterprises experienced AI-related security incidents in the past 12 months, highlighting prevalent vulnerabilities.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677995" y="3088600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$3.81M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10020538" y="4120396"/>
            <a:ext cx="34734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Average Savings Per Breach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77995" y="4610814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AI-enhanced security can significantly reduce financial losses, saving organizations an average of $3.81M per breach.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93790" y="66719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Implementing HIDS also ensures compliance with emerging AI governance frameworks, aligns with ESG goals for responsible AI, and protects innovation by safeguarding legitimate AI applications.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91" y="603647"/>
            <a:ext cx="8004929" cy="60089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6941820"/>
            <a:ext cx="5487710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endParaRPr lang="en-US" sz="4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4542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AI Cybersecurity Landscape</a:t>
            </a:r>
            <a:endParaRPr lang="en-US" sz="2200" dirty="0"/>
          </a:p>
          <a:p>
            <a:pPr>
              <a:defRPr sz="1400" b="1">
                <a:solidFill>
                  <a:srgbClr val="0077B5"/>
                </a:solidFill>
              </a:defRPr>
            </a:pPr>
            <a:r>
              <a:t>Cisco Advantage: $13.1B security revenue, 100,000+ customer networks, 60,000+ channel partners</a:t>
            </a:r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market for AI in cybersecurity is expanding rapidly, yet significant gaps remain in integrated defense capabilities and real-time processing. HIDS addresses these critical areas.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764036" y="2066092"/>
            <a:ext cx="2129790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Integrated Multi-Modal Detection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6835" y="2311241"/>
            <a:ext cx="449699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solutions often lack a unified approach to detecting diverse threats across multiple data types.</a:t>
            </a:r>
            <a:endParaRPr lang="en-US" sz="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3826" y="1201936"/>
            <a:ext cx="4842748" cy="484274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11" y="2641818"/>
            <a:ext cx="159425" cy="1993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36574" y="2066092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Processing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9736574" y="2311241"/>
            <a:ext cx="449699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Insufficient processing speed hinders the ability to respond effectively to rapidly evolving AI-powered attacks.</a:t>
            </a:r>
            <a:endParaRPr lang="en-US" sz="8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826" y="1201936"/>
            <a:ext cx="4842748" cy="4842748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145" y="2641818"/>
            <a:ext cx="159425" cy="1993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736574" y="4572476"/>
            <a:ext cx="1569839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Human-AI Collaboration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9736574" y="4817626"/>
            <a:ext cx="449699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Limited synergy between human intelligence and AI systems reduces overall defense efficacy.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26" y="1201936"/>
            <a:ext cx="4842748" cy="4842748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7145" y="4405253"/>
            <a:ext cx="159425" cy="19931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2731889" y="4572476"/>
            <a:ext cx="216193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Cross-Industry Threat Intelligence</a:t>
            </a:r>
            <a:endParaRPr lang="en-US" sz="1100" dirty="0"/>
          </a:p>
        </p:txBody>
      </p:sp>
      <p:sp>
        <p:nvSpPr>
          <p:cNvPr id="17" name="Text 9"/>
          <p:cNvSpPr/>
          <p:nvPr/>
        </p:nvSpPr>
        <p:spPr>
          <a:xfrm>
            <a:off x="396835" y="4817626"/>
            <a:ext cx="4496991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Absence of shared insights across industries leaves organizations vulnerable to common emerging threats.</a:t>
            </a:r>
            <a:endParaRPr lang="en-US" sz="8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826" y="1201936"/>
            <a:ext cx="4842748" cy="4842748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711" y="4405253"/>
            <a:ext cx="159425" cy="199311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6835" y="6172200"/>
            <a:ext cx="5639157" cy="1209675"/>
          </a:xfrm>
          <a:prstGeom prst="rect">
            <a:avLst/>
          </a:prstGeom>
        </p:spPr>
      </p:pic>
      <p:sp>
        <p:nvSpPr>
          <p:cNvPr id="21" name="Shape 10"/>
          <p:cNvSpPr/>
          <p:nvPr/>
        </p:nvSpPr>
        <p:spPr>
          <a:xfrm>
            <a:off x="1583650" y="7381875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2A2A23"/>
          </a:solidFill>
          <a:ln/>
        </p:spPr>
        <p:txBody>
          <a:bodyPr/>
          <a:p/>
        </p:txBody>
      </p:sp>
      <p:sp>
        <p:nvSpPr>
          <p:cNvPr id="22" name="Text 11"/>
          <p:cNvSpPr/>
          <p:nvPr/>
        </p:nvSpPr>
        <p:spPr>
          <a:xfrm>
            <a:off x="1757958" y="7381875"/>
            <a:ext cx="1382197" cy="113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Projected Market Size (Bill...</a:t>
            </a:r>
            <a:endParaRPr lang="en-US" sz="850" dirty="0"/>
          </a:p>
        </p:txBody>
      </p:sp>
      <p:sp>
        <p:nvSpPr>
          <p:cNvPr id="23" name="Shape 12"/>
          <p:cNvSpPr/>
          <p:nvPr/>
        </p:nvSpPr>
        <p:spPr>
          <a:xfrm>
            <a:off x="3292554" y="7381875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5E5E4F"/>
          </a:solidFill>
          <a:ln/>
        </p:spPr>
        <p:txBody>
          <a:bodyPr/>
          <a:p/>
        </p:txBody>
      </p:sp>
      <p:sp>
        <p:nvSpPr>
          <p:cNvPr id="24" name="Text 13"/>
          <p:cNvSpPr/>
          <p:nvPr/>
        </p:nvSpPr>
        <p:spPr>
          <a:xfrm>
            <a:off x="3466862" y="7381875"/>
            <a:ext cx="487561" cy="113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CAGR (%)</a:t>
            </a:r>
            <a:endParaRPr lang="en-US" sz="850" dirty="0"/>
          </a:p>
        </p:txBody>
      </p:sp>
      <p:sp>
        <p:nvSpPr>
          <p:cNvPr id="25" name="Text 14"/>
          <p:cNvSpPr/>
          <p:nvPr/>
        </p:nvSpPr>
        <p:spPr>
          <a:xfrm>
            <a:off x="396835" y="7849672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chart above highlights the rapid growth across AI cybersecurity markets, with AI in Cybersecurity projected to reach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$109.33B by 2032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the Deepfake Detection market showing a high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47.6% CAGR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. Despite these significant market expansions, key gaps remain.</a:t>
            </a:r>
            <a:endParaRPr lang="en-US" sz="850" dirty="0"/>
          </a:p>
        </p:txBody>
      </p:sp>
      <p:sp>
        <p:nvSpPr>
          <p:cNvPr id="26" name="Text 15"/>
          <p:cNvSpPr/>
          <p:nvPr/>
        </p:nvSpPr>
        <p:spPr>
          <a:xfrm>
            <a:off x="396835" y="8271986"/>
            <a:ext cx="162234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Solutions &amp; Gaps</a:t>
            </a:r>
            <a:endParaRPr lang="en-US" sz="1100" dirty="0"/>
          </a:p>
        </p:txBody>
      </p:sp>
      <p:sp>
        <p:nvSpPr>
          <p:cNvPr id="27" name="Text 16"/>
          <p:cNvSpPr/>
          <p:nvPr/>
        </p:nvSpPr>
        <p:spPr>
          <a:xfrm>
            <a:off x="396835" y="856249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Commercial platforms: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e.g., Sentinel, Reality Defender, Intel FakeCatcher (up to 96% accuracy).</a:t>
            </a:r>
            <a:endParaRPr lang="en-US" sz="850" dirty="0"/>
          </a:p>
        </p:txBody>
      </p:sp>
      <p:sp>
        <p:nvSpPr>
          <p:cNvPr id="28" name="Text 17"/>
          <p:cNvSpPr/>
          <p:nvPr/>
        </p:nvSpPr>
        <p:spPr>
          <a:xfrm>
            <a:off x="396835" y="878359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Academic tools: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Limited real-world performance, with accuracy drops of 50% on current deepfakes.</a:t>
            </a:r>
            <a:endParaRPr lang="en-US" sz="850" dirty="0"/>
          </a:p>
        </p:txBody>
      </p:sp>
      <p:sp>
        <p:nvSpPr>
          <p:cNvPr id="29" name="Text 18"/>
          <p:cNvSpPr/>
          <p:nvPr/>
        </p:nvSpPr>
        <p:spPr>
          <a:xfrm>
            <a:off x="396835" y="9004697"/>
            <a:ext cx="6780014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gaps: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Lack of integrated multi-modal detection, insufficient real-time processing, limited human-AI collaboration, and absence of cross-industry threat intelligence sharing.</a:t>
            </a:r>
            <a:endParaRPr lang="en-US" sz="850" dirty="0"/>
          </a:p>
        </p:txBody>
      </p:sp>
      <p:sp>
        <p:nvSpPr>
          <p:cNvPr id="30" name="Text 19"/>
          <p:cNvSpPr/>
          <p:nvPr/>
        </p:nvSpPr>
        <p:spPr>
          <a:xfrm>
            <a:off x="7461171" y="8271986"/>
            <a:ext cx="162472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Additional Market Trends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7461171" y="8562499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AI-powered malware detection is </a:t>
            </a:r>
            <a:pPr algn="l" indent="0" marL="0">
              <a:lnSpc>
                <a:spcPts val="14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70%</a:t>
            </a:r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more effective than traditional methods.</a:t>
            </a:r>
            <a:endParaRPr lang="en-US" sz="850" dirty="0"/>
          </a:p>
        </p:txBody>
      </p:sp>
      <p:sp>
        <p:nvSpPr>
          <p:cNvPr id="32" name="Text 21"/>
          <p:cNvSpPr/>
          <p:nvPr/>
        </p:nvSpPr>
        <p:spPr>
          <a:xfrm>
            <a:off x="7461171" y="8783598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sent to generative AI applications increased 30-fold in the past year.</a:t>
            </a:r>
            <a:endParaRPr lang="en-US" sz="850" dirty="0"/>
          </a:p>
        </p:txBody>
      </p:sp>
      <p:sp>
        <p:nvSpPr>
          <p:cNvPr id="33" name="Text 22"/>
          <p:cNvSpPr/>
          <p:nvPr/>
        </p:nvSpPr>
        <p:spPr>
          <a:xfrm>
            <a:off x="7461171" y="9004697"/>
            <a:ext cx="678001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Nearly three-quarters of enterprises experienced AI-related security incidents in the past 12 months.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902137"/>
            <a:ext cx="7386280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Insights &amp; Foundation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727829" y="1967865"/>
            <a:ext cx="1317474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solution is built upon key findings from leading research in AI security, emphasising multi-modal approaches and collaborative intelligence.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7829" y="4481274"/>
            <a:ext cx="13174742" cy="22860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273147" y="3857565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050738" y="4247376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665" y="4286310"/>
            <a:ext cx="311825" cy="389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4214" y="2534483"/>
            <a:ext cx="390108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2022: AI-Driven Threat Detection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5712" y="2983944"/>
            <a:ext cx="4698087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Demonstrated superiority of ML/DL over traditional methods.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60150" y="4481215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737741" y="4247376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667" y="4286310"/>
            <a:ext cx="311825" cy="3898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4503" y="5313045"/>
            <a:ext cx="4654391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2023: Protecting Society from AI Misuse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622596" y="5762506"/>
            <a:ext cx="469820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Introduced "Misuse Chain" framework for intervention strategies.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647033" y="3857565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24624" y="4247376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551" y="4286310"/>
            <a:ext cx="311825" cy="38981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03150" y="2534483"/>
            <a:ext cx="3110865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2024: Deepfake-Eval-2024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309479" y="2983944"/>
            <a:ext cx="469820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Revealed 50% accuracy drop in current detection models.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11334036" y="4481215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11111627" y="4247376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9553" y="4286310"/>
            <a:ext cx="311825" cy="38981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0451" y="5313045"/>
            <a:ext cx="4050268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2024: Global Policies for AI Misuse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8996482" y="5762506"/>
            <a:ext cx="4698206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Emphasised awareness, technology, ethics, and enforcement in policy.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727829" y="6661904"/>
            <a:ext cx="1317474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insights confirm that multi-modal strategies, federated learning, and human-AI collaboration are crucial for robust, real-time threat mitigation.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10672"/>
            <a:ext cx="13075920" cy="1387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Introducing the Hybrid Intelligence Defense System (HIDS)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7240" y="2442567"/>
            <a:ext cx="13075920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HIDS is a comprehensive framework integrating advanced technologies to provide a robust, adaptive defense against AI misuse.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3047643"/>
            <a:ext cx="6426875" cy="1695926"/>
          </a:xfrm>
          <a:prstGeom prst="roundRect">
            <a:avLst>
              <a:gd name="adj" fmla="val 8627"/>
            </a:avLst>
          </a:prstGeom>
          <a:noFill/>
          <a:ln w="30480">
            <a:solidFill>
              <a:srgbClr val="CECEC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6760" y="3047643"/>
            <a:ext cx="121920" cy="1695926"/>
          </a:xfrm>
          <a:prstGeom prst="roundRect">
            <a:avLst>
              <a:gd name="adj" fmla="val 76511"/>
            </a:avLst>
          </a:prstGeom>
          <a:solidFill>
            <a:srgbClr val="E5E5E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21212" y="3300174"/>
            <a:ext cx="5272088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Multi-Modal Content Authentication Layer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1121212" y="3780473"/>
            <a:ext cx="5830372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Blockchain-based provenance tracking with ensemble detection.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26166" y="3047643"/>
            <a:ext cx="6426994" cy="1695926"/>
          </a:xfrm>
          <a:prstGeom prst="roundRect">
            <a:avLst>
              <a:gd name="adj" fmla="val 8627"/>
            </a:avLst>
          </a:prstGeom>
          <a:noFill/>
          <a:ln w="30480">
            <a:solidFill>
              <a:srgbClr val="CECEC9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395686" y="3047643"/>
            <a:ext cx="121920" cy="1695926"/>
          </a:xfrm>
          <a:prstGeom prst="roundRect">
            <a:avLst>
              <a:gd name="adj" fmla="val 76511"/>
            </a:avLst>
          </a:prstGeom>
          <a:solidFill>
            <a:srgbClr val="E5E5E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770138" y="3300174"/>
            <a:ext cx="4605933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Federated Learning Security Network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7770138" y="3780473"/>
            <a:ext cx="5830491" cy="355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Privacy-preserving collaborative threat intelligence.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965621"/>
            <a:ext cx="6426875" cy="1695926"/>
          </a:xfrm>
          <a:prstGeom prst="roundRect">
            <a:avLst>
              <a:gd name="adj" fmla="val 8627"/>
            </a:avLst>
          </a:prstGeom>
          <a:noFill/>
          <a:ln w="30480">
            <a:solidFill>
              <a:srgbClr val="CECEC9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46760" y="4965621"/>
            <a:ext cx="121920" cy="1695926"/>
          </a:xfrm>
          <a:prstGeom prst="roundRect">
            <a:avLst>
              <a:gd name="adj" fmla="val 76511"/>
            </a:avLst>
          </a:prstGeom>
          <a:solidFill>
            <a:srgbClr val="E5E5E0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21212" y="5218152"/>
            <a:ext cx="4556998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Human-AI Collaboration Framework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1121212" y="5698450"/>
            <a:ext cx="5830372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Tiered autonomy with expert augmentation for complex cases.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6166" y="4965621"/>
            <a:ext cx="6426994" cy="1695926"/>
          </a:xfrm>
          <a:prstGeom prst="roundRect">
            <a:avLst>
              <a:gd name="adj" fmla="val 8627"/>
            </a:avLst>
          </a:prstGeom>
          <a:noFill/>
          <a:ln w="30480">
            <a:solidFill>
              <a:srgbClr val="CECEC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95686" y="4965621"/>
            <a:ext cx="121920" cy="1695926"/>
          </a:xfrm>
          <a:prstGeom prst="roundRect">
            <a:avLst>
              <a:gd name="adj" fmla="val 76511"/>
            </a:avLst>
          </a:prstGeom>
          <a:solidFill>
            <a:srgbClr val="E5E5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770138" y="5218152"/>
            <a:ext cx="3219450" cy="347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Adaptive Learning System</a:t>
            </a:r>
            <a:endParaRPr lang="en-US" sz="2150" dirty="0"/>
          </a:p>
        </p:txBody>
      </p:sp>
      <p:sp>
        <p:nvSpPr>
          <p:cNvPr id="19" name="Text 17"/>
          <p:cNvSpPr/>
          <p:nvPr/>
        </p:nvSpPr>
        <p:spPr>
          <a:xfrm>
            <a:off x="7770138" y="5698450"/>
            <a:ext cx="5830491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Continuous model evolution and predictive threat modelling.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6911340"/>
            <a:ext cx="13075920" cy="710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HIDS targets 98% detection accuracy across all media types, &lt;300ms response time, 70% reduction in threat detection time, and 80% improvement in incident response.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31789"/>
            <a:ext cx="66323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HIDS System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807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HIDS architecture is designed for real-time, comprehensive threat detection and mitigation.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616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Interface Layer: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Security analyst dashboard, content verification portal, API gateway.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76678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Processing Layer: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Four integrated components for comprehensive threat detection.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57188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Infrastructure Layer: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Blockchain network, edge computing, cloud analytics.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188" y="634603"/>
            <a:ext cx="5868114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Robust Technology Stack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38188" y="1715453"/>
            <a:ext cx="1315402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choice of technologies ensures high performance, scalability, and security, addressing the complex demands of AI threat mitigation.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188" y="2289929"/>
            <a:ext cx="2441138" cy="1508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8188" y="4062174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Immutable</a:t>
            </a:r>
            <a:endParaRPr lang="en-US" sz="2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651" y="2289929"/>
            <a:ext cx="2441138" cy="15086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0651" y="4062174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Proven</a:t>
            </a:r>
            <a:endParaRPr lang="en-US" sz="2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234" y="2289929"/>
            <a:ext cx="2441138" cy="15086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83234" y="4062174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Latency</a:t>
            </a:r>
            <a:endParaRPr lang="en-US" sz="2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188" y="4918829"/>
            <a:ext cx="2441138" cy="15086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38188" y="6691074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Scalable</a:t>
            </a:r>
            <a:endParaRPr lang="en-US" sz="20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0651" y="4918829"/>
            <a:ext cx="2441138" cy="15086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10651" y="6691074"/>
            <a:ext cx="2636401" cy="32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</a:t>
            </a:r>
            <a:endParaRPr lang="en-US" sz="2050" dirty="0"/>
          </a:p>
        </p:txBody>
      </p:sp>
      <p:sp>
        <p:nvSpPr>
          <p:cNvPr id="14" name="Text 7"/>
          <p:cNvSpPr/>
          <p:nvPr/>
        </p:nvSpPr>
        <p:spPr>
          <a:xfrm>
            <a:off x="738188" y="7257693"/>
            <a:ext cx="13154025" cy="337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These selections meet sub-300ms processing requirements, support global deployment, and ensure compatibility with existing systems.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739735"/>
            <a:ext cx="6081832" cy="649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Implementation Roadmap</a:t>
            </a:r>
            <a:endParaRPr lang="en-US" sz="4050" dirty="0"/>
          </a:p>
          <a:p>
            <a:pPr>
              <a:defRPr sz="1400">
                <a:solidFill>
                  <a:srgbClr val="0077B5"/>
                </a:solidFill>
              </a:defRPr>
            </a:pPr>
            <a:r>
              <a:t>Cisco Partnership Integration: Leverage existing customer relationships and channel network</a:t>
            </a:r>
          </a:p>
        </p:txBody>
      </p:sp>
      <p:sp>
        <p:nvSpPr>
          <p:cNvPr id="3" name="Text 1"/>
          <p:cNvSpPr/>
          <p:nvPr/>
        </p:nvSpPr>
        <p:spPr>
          <a:xfrm>
            <a:off x="727829" y="1805464"/>
            <a:ext cx="13174742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phased approach ensures iterative development, rapid feedback, and validated effectiveness before full-scale deployment.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7829" y="4318873"/>
            <a:ext cx="13174742" cy="22860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44898" y="3695164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722489" y="4084975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0415" y="4123908"/>
            <a:ext cx="311825" cy="3898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5143" y="2372082"/>
            <a:ext cx="5622727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1: Foundation Infrastructure (0-6 months)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5712" y="2821543"/>
            <a:ext cx="6041588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MVP with basic blockchain, 95% accuracy detection models, and a pilot program with 5-10 partners.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03532" y="4318814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081123" y="4084975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050" y="4123908"/>
            <a:ext cx="311825" cy="38981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94346" y="5150644"/>
            <a:ext cx="6041588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2: Enhanced Detection &amp; Integration (7-12 months)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294346" y="5924907"/>
            <a:ext cx="6041588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multi-modal detection, real-time processing (&lt;300ms), and human-AI interface integration.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0662285" y="3695164"/>
            <a:ext cx="22860" cy="623768"/>
          </a:xfrm>
          <a:prstGeom prst="roundRect">
            <a:avLst>
              <a:gd name="adj" fmla="val 382074"/>
            </a:avLst>
          </a:prstGeom>
          <a:solidFill>
            <a:srgbClr val="CECEC9"/>
          </a:solidFill>
          <a:ln/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10439876" y="4084975"/>
            <a:ext cx="467797" cy="467797"/>
          </a:xfrm>
          <a:prstGeom prst="roundRect">
            <a:avLst>
              <a:gd name="adj" fmla="val 18671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7803" y="4123908"/>
            <a:ext cx="311825" cy="38981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040053" y="2372082"/>
            <a:ext cx="5267563" cy="324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 3: Scale &amp; Optimization (13-18 months)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7652980" y="2821543"/>
            <a:ext cx="6041707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Global network expansion (100+ organisations), cross-industry threat sharing, and continuous model updates for full deployment.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27829" y="6824305"/>
            <a:ext cx="13174742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modular architecture allows for component-wise optimisation and reduces development risk through proven technology and incremental deployment.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191" y="603647"/>
            <a:ext cx="8012073" cy="60089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8191" y="6941820"/>
            <a:ext cx="5487710" cy="68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endParaRPr lang="en-US" sz="4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0614"/>
            <a:ext cx="78737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HIDS Impact &amp; Future Outlook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6302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HIDS offers substantial benefits to organisations, governments, and citizens, addressing critical gaps in cybersecurity and fostering digital trust.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43977"/>
            <a:ext cx="13042821" cy="3266837"/>
          </a:xfrm>
          <a:prstGeom prst="roundRect">
            <a:avLst>
              <a:gd name="adj" fmla="val 291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01410" y="325159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28462" y="339530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Metric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289108" y="339530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Current State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943" y="339530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(Year 1)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802779" y="339530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Target (Year 3)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801410" y="3901916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8462" y="404562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Detection Accuracy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4289108" y="404562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65%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45943" y="4045625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95%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802779" y="4045625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98%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455223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28462" y="469594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Response Time Reduction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4289108" y="469594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Baseline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545943" y="4695944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50%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802779" y="4695944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70%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520255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8462" y="534626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Cost Savings per Org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4289108" y="53462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$0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545943" y="534626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$1.2M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802779" y="534626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$1.88M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801410" y="5852874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28462" y="599658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False Positive Reduction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4289108" y="599658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20-30%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545943" y="5996583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60%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0802779" y="5996583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80%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793790" y="676596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With AI threats evolving rapidly, proactive defense systems like HIDS are essential for protecting our digital future.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5813" y="618173"/>
            <a:ext cx="5388531" cy="561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Limitations &amp; Future Work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85813" y="1628537"/>
            <a:ext cx="13058775" cy="3592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Addressing the challenges and exploring future enhancements to HIDS.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813" y="2240280"/>
            <a:ext cx="561261" cy="561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5813" y="3082171"/>
            <a:ext cx="4064437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Evolving Adversarial Techniques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85813" y="3567589"/>
            <a:ext cx="6389013" cy="107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constant evolution of AI threats requires HIDS to continuously adapt its detection models against new and sophisticated adversarial techniques.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456" y="2240280"/>
            <a:ext cx="561261" cy="5612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5456" y="3082171"/>
            <a:ext cx="3579138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Compute &amp; Data Needs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5456" y="3567589"/>
            <a:ext cx="6389132" cy="107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HIDS requires significant computational power and vast datasets for training and real-time processing, posing resource management challenges.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5206484"/>
            <a:ext cx="561261" cy="5612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5813" y="6048375"/>
            <a:ext cx="3942874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Privacy vs. Detection Trade-offs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85813" y="6533793"/>
            <a:ext cx="6389013" cy="107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Balancing effective threat detection with user privacy concerns necessitates careful design and robust privacy-preserving mechanisms within HIDS.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5456" y="5206484"/>
            <a:ext cx="561261" cy="5612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5456" y="6048375"/>
            <a:ext cx="2806660" cy="350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Outlook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5456" y="6533793"/>
            <a:ext cx="6389132" cy="1077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Future work includes integrating quantum-resistant security measures, expanding to XR (Extended Reality) environments, and enhancing explainable AI for transparency.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6977"/>
            <a:ext cx="68680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Call to Action</a:t>
            </a:r>
            <a:endParaRPr lang="en-US" sz="4450" dirty="0"/>
          </a:p>
          <a:p>
            <a:pPr>
              <a:defRPr sz="1800" b="1">
                <a:solidFill>
                  <a:srgbClr val="0077B5"/>
                </a:solidFill>
              </a:defRPr>
            </a:pPr>
            <a:r>
              <a:t>Cisco Partnership Opportunities:</a:t>
            </a:r>
          </a:p>
          <a:p>
            <a:pPr lvl="1">
              <a:defRPr sz="1600"/>
            </a:pPr>
            <a:r>
              <a:t>Pilot Program: Partner with 5 Cisco enterprise customers</a:t>
            </a:r>
          </a:p>
          <a:p>
            <a:pPr lvl="1">
              <a:defRPr sz="1600"/>
            </a:pPr>
            <a:r>
              <a:t>Innovation Lab: Establish joint R&amp;D facility</a:t>
            </a:r>
          </a:p>
          <a:p>
            <a:pPr lvl="1">
              <a:defRPr sz="1600"/>
            </a:pPr>
            <a:r>
              <a:t>Market Launch: Co-launch at Cisco Live 2024</a:t>
            </a:r>
          </a:p>
          <a:p>
            <a:pPr lvl="1">
              <a:defRPr sz="1600"/>
            </a:pPr>
            <a:r>
              <a:t>Global Expansion: Leverage Cisco's international presence</a:t>
            </a:r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689384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486400"/>
            <a:ext cx="30591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HIDS: Adaptive Defense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97681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Offers real-time, adaptive defense against AI misuse, safeguarding digital integrity.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689384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486400"/>
            <a:ext cx="28859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Strategic Collaboration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97681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Seeking 5-10 pilot partners for technology and policy collaboration.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689384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486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Our Future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97681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Join us in our mission to protect and secure our shared digital future.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2025-07-13T12:02:16Z</dcterms:created>
  <dcterms:modified xsi:type="dcterms:W3CDTF">2025-07-13T12:02:16Z</dcterms:modified>
</cp:coreProperties>
</file>